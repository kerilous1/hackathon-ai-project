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7697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0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ay1deck/logo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850" y="131188"/>
            <a:ext cx="2649334" cy="264933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37360" y="233172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72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</a:t>
            </a:r>
            <a:endParaRPr lang="en-US" sz="5720" dirty="0"/>
          </a:p>
        </p:txBody>
      </p:sp>
      <p:sp>
        <p:nvSpPr>
          <p:cNvPr id="4" name="Text 1"/>
          <p:cNvSpPr/>
          <p:nvPr/>
        </p:nvSpPr>
        <p:spPr>
          <a:xfrm>
            <a:off x="9994392" y="233172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2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</a:t>
            </a:r>
            <a:endParaRPr lang="en-US" sz="5720" dirty="0"/>
          </a:p>
        </p:txBody>
      </p:sp>
      <p:sp>
        <p:nvSpPr>
          <p:cNvPr id="5" name="Text 2"/>
          <p:cNvSpPr/>
          <p:nvPr/>
        </p:nvSpPr>
        <p:spPr>
          <a:xfrm>
            <a:off x="1737360" y="2331720"/>
            <a:ext cx="8714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</a:t>
            </a:r>
            <a:endParaRPr lang="en-US" sz="6600" dirty="0"/>
          </a:p>
        </p:txBody>
      </p:sp>
      <p:sp>
        <p:nvSpPr>
          <p:cNvPr id="6" name="Text 3"/>
          <p:cNvSpPr/>
          <p:nvPr/>
        </p:nvSpPr>
        <p:spPr>
          <a:xfrm>
            <a:off x="1280160" y="3520440"/>
            <a:ext cx="9628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SCOPE &amp; DOCUMENT INGESTION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280160" y="416052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Clinical Decision Support Lite Hackathon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175504" y="4892040"/>
            <a:ext cx="1828800" cy="0"/>
          </a:xfrm>
          <a:prstGeom prst="line">
            <a:avLst/>
          </a:prstGeom>
          <a:noFill/>
          <a:ln w="12700">
            <a:solidFill>
              <a:srgbClr val="163B9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COUNCIL BEHIND THIS SESSION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by Three Specialists,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Delivered as One Session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6060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2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</a:t>
            </a:r>
            <a:endParaRPr lang="en-US" sz="2420" dirty="0"/>
          </a:p>
        </p:txBody>
      </p:sp>
      <p:sp>
        <p:nvSpPr>
          <p:cNvPr id="6" name="Text 4"/>
          <p:cNvSpPr/>
          <p:nvPr/>
        </p:nvSpPr>
        <p:spPr>
          <a:xfrm>
            <a:off x="3246120" y="26060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2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</a:t>
            </a:r>
            <a:endParaRPr lang="en-US" sz="242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Processing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Vector DB Specialist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42062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Trainer — Day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6177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PDF ingestion, chunking design, and vector indexing.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97680" y="233172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6060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2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</a:t>
            </a:r>
            <a:endParaRPr lang="en-US" sz="2420" dirty="0"/>
          </a:p>
        </p:txBody>
      </p:sp>
      <p:sp>
        <p:nvSpPr>
          <p:cNvPr id="13" name="Text 11"/>
          <p:cNvSpPr/>
          <p:nvPr/>
        </p:nvSpPr>
        <p:spPr>
          <a:xfrm>
            <a:off x="6995160" y="26060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2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</a:t>
            </a:r>
            <a:endParaRPr lang="en-US" sz="2420" dirty="0"/>
          </a:p>
        </p:txBody>
      </p:sp>
      <p:sp>
        <p:nvSpPr>
          <p:cNvPr id="14" name="Text 12"/>
          <p:cNvSpPr/>
          <p:nvPr/>
        </p:nvSpPr>
        <p:spPr>
          <a:xfrm>
            <a:off x="4572000" y="26060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0" y="329184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Data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Steward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72000" y="42062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Advisor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46177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Vets guideline sources for medical accuracy &amp; licensing.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46720" y="233172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26060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2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</a:t>
            </a:r>
            <a:endParaRPr lang="en-US" sz="2420" dirty="0"/>
          </a:p>
        </p:txBody>
      </p:sp>
      <p:sp>
        <p:nvSpPr>
          <p:cNvPr id="20" name="Text 18"/>
          <p:cNvSpPr/>
          <p:nvPr/>
        </p:nvSpPr>
        <p:spPr>
          <a:xfrm>
            <a:off x="10744200" y="26060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2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</a:t>
            </a:r>
            <a:endParaRPr lang="en-US" sz="2420" dirty="0"/>
          </a:p>
        </p:txBody>
      </p:sp>
      <p:sp>
        <p:nvSpPr>
          <p:cNvPr id="21" name="Text 19"/>
          <p:cNvSpPr/>
          <p:nvPr/>
        </p:nvSpPr>
        <p:spPr>
          <a:xfrm>
            <a:off x="8321040" y="26060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321040" y="329184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Systems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21040" y="42062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Advisor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21040" y="46177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Day 1 setup with Day 2 retrieval requirements.</a:t>
            </a:r>
            <a:endParaRPr lang="en-US" sz="1150" dirty="0"/>
          </a:p>
        </p:txBody>
      </p:sp>
      <p:pic>
        <p:nvPicPr>
          <p:cNvPr id="25" name="Image 0" descr="/home/claude/day1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AI CLINICAL DECISION SUPPORT LITE HACKATHON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pic>
        <p:nvPicPr>
          <p:cNvPr id="28" name="Google Shape;90;p1">
            <a:extLst>
              <a:ext uri="{FF2B5EF4-FFF2-40B4-BE49-F238E27FC236}">
                <a16:creationId xmlns:a16="http://schemas.microsoft.com/office/drawing/2014/main" id="{C91B944E-482B-4DF7-AC96-AD38A7D0CEDB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End, Every Team Can: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30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9202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grounding — not raw LLM knowledge — is non-negotiable in clinical AI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30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697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legally usable, structurally sound medical guideline source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30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4747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a complex clinical PDF into clean, structured text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42976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30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2519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and justify a chunking strategy for their chosen document type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40080" y="5074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30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50292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embeddings and stand up a queryable vector index with metadata</a:t>
            </a:r>
            <a:endParaRPr lang="en-US" sz="1550" dirty="0"/>
          </a:p>
        </p:txBody>
      </p:sp>
      <p:pic>
        <p:nvPicPr>
          <p:cNvPr id="19" name="Image 0" descr="/home/claude/day1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AI CLINICAL DECISION SUPPORT LITE HACKATHON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pic>
        <p:nvPicPr>
          <p:cNvPr id="22" name="Google Shape;90;p1">
            <a:extLst>
              <a:ext uri="{FF2B5EF4-FFF2-40B4-BE49-F238E27FC236}">
                <a16:creationId xmlns:a16="http://schemas.microsoft.com/office/drawing/2014/main" id="{F86D628E-C1E3-4E44-A5E0-C483F5B53B5A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30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228600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10451592" y="228600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280160" y="242316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80160" y="2880360"/>
            <a:ext cx="9628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94560" y="3931920"/>
            <a:ext cx="7799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stakes before we touch a single line of code</a:t>
            </a:r>
            <a:endParaRPr lang="en-US" sz="1400" dirty="0"/>
          </a:p>
        </p:txBody>
      </p:sp>
      <p:pic>
        <p:nvPicPr>
          <p:cNvPr id="7" name="Image 0" descr="/home/claude/day1deck/logo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AI CLINICAL DECISION SUPPORT LITE HACKATHON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pic>
        <p:nvPicPr>
          <p:cNvPr id="10" name="Google Shape;90;p1">
            <a:extLst>
              <a:ext uri="{FF2B5EF4-FFF2-40B4-BE49-F238E27FC236}">
                <a16:creationId xmlns:a16="http://schemas.microsoft.com/office/drawing/2014/main" id="{8217EB7E-19F9-4B78-BA38-D472F559D808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 —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Fluent Isn't the Same as True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760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 generate confident, well-written medical advice — even when it is factually wrong. In clinical decision support, an unverifiable claim is not a minor bug. It is a patient-safety risk.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703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citation back to a real guideline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tone regardless of evidence strength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4617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4617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or fabricated dosages and thresholds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5074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5074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for a clinician to verify the source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720840" y="1691640"/>
            <a:ext cx="4892040" cy="3794760"/>
          </a:xfrm>
          <a:prstGeom prst="roundRect">
            <a:avLst>
              <a:gd name="adj" fmla="val 1928"/>
            </a:avLst>
          </a:prstGeom>
          <a:solidFill>
            <a:srgbClr val="0F307F"/>
          </a:solidFill>
          <a:ln/>
        </p:spPr>
      </p:sp>
      <p:sp>
        <p:nvSpPr>
          <p:cNvPr id="14" name="Text 12"/>
          <p:cNvSpPr/>
          <p:nvPr/>
        </p:nvSpPr>
        <p:spPr>
          <a:xfrm>
            <a:off x="7086600" y="205740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4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</a:t>
            </a:r>
            <a:endParaRPr lang="en-US" sz="4840" dirty="0"/>
          </a:p>
        </p:txBody>
      </p:sp>
      <p:sp>
        <p:nvSpPr>
          <p:cNvPr id="15" name="Text 13"/>
          <p:cNvSpPr/>
          <p:nvPr/>
        </p:nvSpPr>
        <p:spPr>
          <a:xfrm>
            <a:off x="10789920" y="205740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84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</a:t>
            </a:r>
            <a:endParaRPr lang="en-US" sz="4840" dirty="0"/>
          </a:p>
        </p:txBody>
      </p:sp>
      <p:sp>
        <p:nvSpPr>
          <p:cNvPr id="16" name="Text 14"/>
          <p:cNvSpPr/>
          <p:nvPr/>
        </p:nvSpPr>
        <p:spPr>
          <a:xfrm>
            <a:off x="7086600" y="24231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Rule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086600" y="288036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claim without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citation.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086600" y="420624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your system produces this week must trace back to a document name, section, and page number — no exceptions.</a:t>
            </a:r>
            <a:endParaRPr lang="en-US" sz="1250" dirty="0"/>
          </a:p>
        </p:txBody>
      </p:sp>
      <p:pic>
        <p:nvPicPr>
          <p:cNvPr id="19" name="Image 0" descr="/home/claude/day1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AI CLINICAL DECISION SUPPORT LITE HACKATHON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pic>
        <p:nvPicPr>
          <p:cNvPr id="22" name="Google Shape;90;p1">
            <a:extLst>
              <a:ext uri="{FF2B5EF4-FFF2-40B4-BE49-F238E27FC236}">
                <a16:creationId xmlns:a16="http://schemas.microsoft.com/office/drawing/2014/main" id="{9EB5710A-3F16-43E6-BC33-554A027F7E28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 — 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RAG: Ground Every Answer in Evidence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separates “what the model knows” from “what the model is allowed to say.” Instead of answering from memory, the model answers only from text it just retrieved.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0F307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1546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37033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42062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asks a clinical question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54680" y="388620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0" y="292608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163B95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31546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11880" y="37033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1880" y="42062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finds the most relevant guideline passages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89320" y="388620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17920" y="292608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0F307F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31546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46520" y="37033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46520" y="42062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drafts an answer using only those passages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23960" y="388620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052560" y="292608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163B95"/>
          </a:solidFill>
          <a:ln/>
        </p:spPr>
      </p:sp>
      <p:sp>
        <p:nvSpPr>
          <p:cNvPr id="21" name="Text 19"/>
          <p:cNvSpPr/>
          <p:nvPr/>
        </p:nvSpPr>
        <p:spPr>
          <a:xfrm>
            <a:off x="9281160" y="31546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281160" y="37033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81160" y="42062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returns with document, section &amp; page</a:t>
            </a:r>
            <a:endParaRPr lang="en-US" sz="1200" dirty="0"/>
          </a:p>
        </p:txBody>
      </p:sp>
      <p:pic>
        <p:nvPicPr>
          <p:cNvPr id="24" name="Image 0" descr="/home/claude/day1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AI CLINICAL DECISION SUPPORT LITE HACKATHON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pic>
        <p:nvPicPr>
          <p:cNvPr id="27" name="Google Shape;90;p1">
            <a:extLst>
              <a:ext uri="{FF2B5EF4-FFF2-40B4-BE49-F238E27FC236}">
                <a16:creationId xmlns:a16="http://schemas.microsoft.com/office/drawing/2014/main" id="{6AE38D29-3AB2-49FC-9BE0-B9330F780788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 — 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You'll Build All Week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520440"/>
          </a:xfrm>
          <a:prstGeom prst="roundRect">
            <a:avLst>
              <a:gd name="adj" fmla="val 2807"/>
            </a:avLst>
          </a:prstGeom>
          <a:solidFill>
            <a:srgbClr val="00C7F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240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TODAY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6517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PDFs, chunk text, generate embeddings, build the index.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965960"/>
            <a:ext cx="2606040" cy="3520440"/>
          </a:xfrm>
          <a:prstGeom prst="roundRect">
            <a:avLst>
              <a:gd name="adj" fmla="val 2807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2240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11880" y="26517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11880" y="324612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top-k search, evaluate embedding quality, ensure explainability.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965960"/>
            <a:ext cx="2606040" cy="3520440"/>
          </a:xfrm>
          <a:prstGeom prst="roundRect">
            <a:avLst>
              <a:gd name="adj" fmla="val 2807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240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46520" y="26517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46520" y="324612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grounded prompts, format citations, build refusal logic.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52560" y="1965960"/>
            <a:ext cx="2606040" cy="3520440"/>
          </a:xfrm>
          <a:prstGeom prst="roundRect">
            <a:avLst>
              <a:gd name="adj" fmla="val 2807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81160" y="2240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281160" y="26517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&amp; Eval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281160" y="324612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thresholds, faithfulness metrics, responsible AI checks.</a:t>
            </a:r>
            <a:endParaRPr lang="en-US" sz="1200" dirty="0"/>
          </a:p>
        </p:txBody>
      </p:sp>
      <p:pic>
        <p:nvPicPr>
          <p:cNvPr id="20" name="Image 0" descr="/home/claude/day1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AI CLINICAL DECISION SUPPORT LITE HACKATHON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pic>
        <p:nvPicPr>
          <p:cNvPr id="23" name="Google Shape;90;p1">
            <a:extLst>
              <a:ext uri="{FF2B5EF4-FFF2-40B4-BE49-F238E27FC236}">
                <a16:creationId xmlns:a16="http://schemas.microsoft.com/office/drawing/2014/main" id="{78A7042A-4A9F-4D62-9E6A-F435286741C0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30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228600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10451592" y="228600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280160" y="242316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80160" y="2880360"/>
            <a:ext cx="9628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Selection &amp; Scope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94560" y="3931920"/>
            <a:ext cx="7799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ground your system will stand on</a:t>
            </a:r>
            <a:endParaRPr lang="en-US" sz="1400" dirty="0"/>
          </a:p>
        </p:txBody>
      </p:sp>
      <p:pic>
        <p:nvPicPr>
          <p:cNvPr id="7" name="Image 0" descr="/home/claude/day1deck/logo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AI CLINICAL DECISION SUPPORT LITE HACKATHON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pic>
        <p:nvPicPr>
          <p:cNvPr id="10" name="Google Shape;90;p1">
            <a:extLst>
              <a:ext uri="{FF2B5EF4-FFF2-40B4-BE49-F238E27FC236}">
                <a16:creationId xmlns:a16="http://schemas.microsoft.com/office/drawing/2014/main" id="{2C4B6A11-C616-48CC-8C70-11D7C46EE94D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SOURCE SELECTION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Recommended Guideline Sources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33832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F30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USPSTF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letter grades (A–D)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Preventive medicine questions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F30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NICE (UK)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Separates “Recommendations” from “Evidence”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Clear-cut extractable structure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F30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(IRIS)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Massive open-access PDF library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health topic breadth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F30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 Guidelines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Color-coded class &amp; level of evidence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Cardiology-specific queries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F30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MAGICapp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on GRADE methodology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Structured, extraction-friendly PDFs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440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1–2 sources only. Depth beats breadth in a 96-hour build.</a:t>
            </a:r>
            <a:endParaRPr lang="en-US" sz="1250" dirty="0"/>
          </a:p>
        </p:txBody>
      </p:sp>
      <p:pic>
        <p:nvPicPr>
          <p:cNvPr id="6" name="Image 0" descr="/home/claude/day1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AI CLINICAL DECISION SUPPORT LITE HACKATHON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pic>
        <p:nvPicPr>
          <p:cNvPr id="9" name="Google Shape;90;p1">
            <a:extLst>
              <a:ext uri="{FF2B5EF4-FFF2-40B4-BE49-F238E27FC236}">
                <a16:creationId xmlns:a16="http://schemas.microsoft.com/office/drawing/2014/main" id="{9648EDDE-C9D4-4103-B8B4-7E1823444BA6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BEFORE YOU INGEST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Legal Usability First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brilliant RAG system built on a source you can't legally use is worth zero points and creates real liability. Confirm this checklist before parsing a single page.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0C7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is open-access or explicitly licensed for reuse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0C7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33375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redistribution restrictions that block indexing/embedding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40690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0C7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40233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date confirmed current (not a superseded edition)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4754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0C7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47091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requirements identified and documented</a:t>
            </a:r>
            <a:endParaRPr lang="en-US" sz="1450" dirty="0"/>
          </a:p>
        </p:txBody>
      </p:sp>
      <p:pic>
        <p:nvPicPr>
          <p:cNvPr id="17" name="Image 0" descr="/home/claude/day1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AI CLINICAL DECISION SUPPORT LITE HACKATHON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20" name="Google Shape;90;p1">
            <a:extLst>
              <a:ext uri="{FF2B5EF4-FFF2-40B4-BE49-F238E27FC236}">
                <a16:creationId xmlns:a16="http://schemas.microsoft.com/office/drawing/2014/main" id="{09BFD767-A805-41A3-8179-AF94ADA8FDB6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30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228600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10451592" y="228600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280160" y="242316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80160" y="2880360"/>
            <a:ext cx="9628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Parsing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94560" y="3931920"/>
            <a:ext cx="7799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clinical PDF into clean, structured text</a:t>
            </a:r>
            <a:endParaRPr lang="en-US" sz="1400" dirty="0"/>
          </a:p>
        </p:txBody>
      </p:sp>
      <p:pic>
        <p:nvPicPr>
          <p:cNvPr id="7" name="Image 0" descr="/home/claude/day1deck/logo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AI CLINICAL DECISION SUPPORT LITE HACKATHON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10" name="Google Shape;90;p1">
            <a:extLst>
              <a:ext uri="{FF2B5EF4-FFF2-40B4-BE49-F238E27FC236}">
                <a16:creationId xmlns:a16="http://schemas.microsoft.com/office/drawing/2014/main" id="{131430A6-8B36-4A08-8438-1D80AE9C262E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PDFs Fight Back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Multi-column layouts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text extraction interleaves unrelated columns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017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tables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Dosage and threshold tables collapse into unreadable text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114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&amp; footers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480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page furniture pollutes every chunk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512064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212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numbering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5577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hierarchy gets flattened and lost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1828800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0F307F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214884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6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</a:t>
            </a:r>
            <a:endParaRPr lang="en-US" sz="3960" dirty="0"/>
          </a:p>
        </p:txBody>
      </p:sp>
      <p:sp>
        <p:nvSpPr>
          <p:cNvPr id="18" name="Text 16"/>
          <p:cNvSpPr/>
          <p:nvPr/>
        </p:nvSpPr>
        <p:spPr>
          <a:xfrm>
            <a:off x="10789920" y="214884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96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</a:t>
            </a:r>
            <a:endParaRPr lang="en-US" sz="3960" dirty="0"/>
          </a:p>
        </p:txBody>
      </p:sp>
      <p:sp>
        <p:nvSpPr>
          <p:cNvPr id="19" name="Text 17"/>
          <p:cNvSpPr/>
          <p:nvPr/>
        </p:nvSpPr>
        <p:spPr>
          <a:xfrm>
            <a:off x="6629400" y="24688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292608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Structure-aware parsing,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plain-text extraction.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629400" y="411480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parser can't tell a table from a paragraph, your chunks — and every citation built on them — will be wrong.</a:t>
            </a:r>
            <a:endParaRPr lang="en-US" sz="1300" dirty="0"/>
          </a:p>
        </p:txBody>
      </p:sp>
      <p:pic>
        <p:nvPicPr>
          <p:cNvPr id="22" name="Image 0" descr="/home/claude/day1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AI CLINICAL DECISION SUPPORT LITE HACKATHON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25" name="Google Shape;90;p1">
            <a:extLst>
              <a:ext uri="{FF2B5EF4-FFF2-40B4-BE49-F238E27FC236}">
                <a16:creationId xmlns:a16="http://schemas.microsoft.com/office/drawing/2014/main" id="{1AC73105-7AB6-4C9D-B8FD-8839D8A78A0B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YOUR TOOLKIT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Parsing Tools Worth Trying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0F307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945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DEFAULT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unstructured.io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strong at detecting document layout elements (titles, tables, lists) automatically.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1945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CONTROL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17720" y="26060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PyMuPDF (fitz)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17720" y="33375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lightweight, gives precise text position and page coordinates for custom logic.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21945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TABLES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412480" y="26060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LlamaParse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412480" y="33375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LLM-assisted parsing, excels at reconstructing complex tables into markdown.</a:t>
            </a:r>
            <a:endParaRPr lang="en-US" sz="1250" dirty="0"/>
          </a:p>
        </p:txBody>
      </p:sp>
      <p:pic>
        <p:nvPicPr>
          <p:cNvPr id="16" name="Image 0" descr="/home/claude/day1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AI CLINICAL DECISION SUPPORT LITE HACKATHON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pic>
        <p:nvPicPr>
          <p:cNvPr id="19" name="Google Shape;90;p1">
            <a:extLst>
              <a:ext uri="{FF2B5EF4-FFF2-40B4-BE49-F238E27FC236}">
                <a16:creationId xmlns:a16="http://schemas.microsoft.com/office/drawing/2014/main" id="{3C7D4E08-EEF8-4D96-9372-ED813F69DA9D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30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228600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10451592" y="228600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280160" y="242316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80160" y="2880360"/>
            <a:ext cx="9628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 Strategies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94560" y="3931920"/>
            <a:ext cx="7799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cut the text decides how well you can retrieve it</a:t>
            </a:r>
            <a:endParaRPr lang="en-US" sz="1400" dirty="0"/>
          </a:p>
        </p:txBody>
      </p:sp>
      <p:pic>
        <p:nvPicPr>
          <p:cNvPr id="7" name="Image 0" descr="/home/claude/day1deck/logo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AI CLINICAL DECISION SUPPORT LITE HACKATHON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10" name="Google Shape;90;p1">
            <a:extLst>
              <a:ext uri="{FF2B5EF4-FFF2-40B4-BE49-F238E27FC236}">
                <a16:creationId xmlns:a16="http://schemas.microsoft.com/office/drawing/2014/main" id="{13C8A9C6-3B19-40EB-892A-0DCD0C0BA02B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THREE APPROACHES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Fixed-Size vs. Section-Aware vs. Hierarchical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48840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0F307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Fixed-Size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7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fast, predictable chunk count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4805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03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47548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sentences and tables mid-thought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187452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2148840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0F307F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17720" y="2788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Section-Aware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17720" y="33375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7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17720" y="36118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Respects headings &amp; clinical sub-sections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17720" y="44805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03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17720" y="47548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chunk sizes; needs good parsing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38160" y="187452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0" y="2148840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0F307F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12480" y="2788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Hierarchical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412480" y="33375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7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412480" y="36118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parent-child context (e.g. section → sub-point)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12480" y="44805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03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412480" y="47548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 indexing &amp; retrieval logic</a:t>
            </a:r>
            <a:endParaRPr lang="en-US" sz="1200" dirty="0"/>
          </a:p>
        </p:txBody>
      </p:sp>
      <p:pic>
        <p:nvPicPr>
          <p:cNvPr id="28" name="Image 0" descr="/home/claude/day1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AI CLINICAL DECISION SUPPORT LITE HACKATHON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pic>
        <p:nvPicPr>
          <p:cNvPr id="31" name="Google Shape;90;p1">
            <a:extLst>
              <a:ext uri="{FF2B5EF4-FFF2-40B4-BE49-F238E27FC236}">
                <a16:creationId xmlns:a16="http://schemas.microsoft.com/office/drawing/2014/main" id="{29E6484D-CF90-4798-8667-0DF1ABBE761B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COUNCIL RECOMMENDATION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Council Recommends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0881360" cy="1965960"/>
          </a:xfrm>
          <a:prstGeom prst="roundRect">
            <a:avLst>
              <a:gd name="adj" fmla="val 3721"/>
            </a:avLst>
          </a:prstGeom>
          <a:solidFill>
            <a:srgbClr val="0F307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488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2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</a:t>
            </a:r>
            <a:endParaRPr lang="en-US" sz="3520" dirty="0"/>
          </a:p>
        </p:txBody>
      </p:sp>
      <p:sp>
        <p:nvSpPr>
          <p:cNvPr id="6" name="Text 4"/>
          <p:cNvSpPr/>
          <p:nvPr/>
        </p:nvSpPr>
        <p:spPr>
          <a:xfrm>
            <a:off x="10607040" y="21488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52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</a:t>
            </a:r>
            <a:endParaRPr lang="en-US" sz="352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section-aware. Add hierarchy only if time allows.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guidelines are already organized by heading — use that structure instead of fighting it with arbitrary character counts.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starting point: 300–500 token chunks with 10–15% overlap — then tune based on Day 2 retrieval scores.</a:t>
            </a:r>
            <a:endParaRPr lang="en-US" sz="1400" dirty="0"/>
          </a:p>
        </p:txBody>
      </p:sp>
      <p:pic>
        <p:nvPicPr>
          <p:cNvPr id="10" name="Image 0" descr="/home/claude/day1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AI CLINICAL DECISION SUPPORT LITE HACKATHON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pic>
        <p:nvPicPr>
          <p:cNvPr id="13" name="Google Shape;90;p1">
            <a:extLst>
              <a:ext uri="{FF2B5EF4-FFF2-40B4-BE49-F238E27FC236}">
                <a16:creationId xmlns:a16="http://schemas.microsoft.com/office/drawing/2014/main" id="{3EB19F60-6F16-4569-A550-A17A937495B5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30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228600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10451592" y="228600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280160" y="242316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80160" y="2880360"/>
            <a:ext cx="9628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 &amp; Vector Storage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94560" y="3931920"/>
            <a:ext cx="7799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your chunks searchable by meaning, not just keywords</a:t>
            </a:r>
            <a:endParaRPr lang="en-US" sz="1400" dirty="0"/>
          </a:p>
        </p:txBody>
      </p:sp>
      <p:pic>
        <p:nvPicPr>
          <p:cNvPr id="7" name="Image 0" descr="/home/claude/day1deck/logo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AI CLINICAL DECISION SUPPORT LITE HACKATHON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pic>
        <p:nvPicPr>
          <p:cNvPr id="10" name="Google Shape;90;p1">
            <a:extLst>
              <a:ext uri="{FF2B5EF4-FFF2-40B4-BE49-F238E27FC236}">
                <a16:creationId xmlns:a16="http://schemas.microsoft.com/office/drawing/2014/main" id="{ED27DF5E-0333-4E97-B11B-7C7BF8D70D16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THE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Text Into Searchable Meaning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embedding model converts each chunk into a vector of numbers that captures its meaning. Chunks about similar clinical topics land close together in that vector space — even if they use different wording.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004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Chunk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063240" y="36576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337560" y="32004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0F307F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32004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852160" y="36576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126480" y="32004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32004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[0.12, -0.87, ...]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41080" y="36576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915400" y="32004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0F307F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32004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&amp; Searchable</a:t>
            </a:r>
            <a:endParaRPr lang="en-US" sz="1250" dirty="0"/>
          </a:p>
        </p:txBody>
      </p:sp>
      <p:pic>
        <p:nvPicPr>
          <p:cNvPr id="16" name="Image 0" descr="/home/claude/day1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AI CLINICAL DECISION SUPPORT LITE HACKATHON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pic>
        <p:nvPicPr>
          <p:cNvPr id="19" name="Google Shape;90;p1">
            <a:extLst>
              <a:ext uri="{FF2B5EF4-FFF2-40B4-BE49-F238E27FC236}">
                <a16:creationId xmlns:a16="http://schemas.microsoft.com/office/drawing/2014/main" id="{C6E21041-5B2F-4C58-9C71-FEC95E3267B2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MODEL SELECTION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an Embedding Model</a:t>
            </a:r>
            <a:endParaRPr lang="en-US" sz="3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22860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Consideration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30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text-embedding-3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API, hosted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general quality, simplest setup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30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Cohere embed-v3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API, hosted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Multilingual strength, good for mixed-language guidelines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30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sentence-transformers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Open-source, local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API cost, full control, needs local compute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434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which model you chose and why — Day 2 asks you to defend this decision with retrieval scores.</a:t>
            </a:r>
            <a:endParaRPr lang="en-US" sz="1300" dirty="0"/>
          </a:p>
        </p:txBody>
      </p:sp>
      <p:pic>
        <p:nvPicPr>
          <p:cNvPr id="6" name="Image 0" descr="/home/claude/day1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AI CLINICAL DECISION SUPPORT LITE HACKATHON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pic>
        <p:nvPicPr>
          <p:cNvPr id="9" name="Google Shape;90;p1">
            <a:extLst>
              <a:ext uri="{FF2B5EF4-FFF2-40B4-BE49-F238E27FC236}">
                <a16:creationId xmlns:a16="http://schemas.microsoft.com/office/drawing/2014/main" id="{3DC9791D-04E0-420F-B634-7E2CFB2E95B0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VECTOR STORAGE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Databases at a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local, zero setup — ideal for a 96-hour build.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9202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148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Pinecone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17720" y="269748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managed, hosted, scales effortlessly beyond the hackathon.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9202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2148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Weaviate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0" y="269748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with hybrid (keyword + vector) search built in.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1605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start with Chroma today — migrate later only if you need managed scale.</a:t>
            </a:r>
            <a:endParaRPr lang="en-US" sz="1350" dirty="0"/>
          </a:p>
        </p:txBody>
      </p:sp>
      <p:pic>
        <p:nvPicPr>
          <p:cNvPr id="14" name="Image 0" descr="/home/claude/day1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AI CLINICAL DECISION SUPPORT LITE HACKATHON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pic>
        <p:nvPicPr>
          <p:cNvPr id="17" name="Google Shape;90;p1">
            <a:extLst>
              <a:ext uri="{FF2B5EF4-FFF2-40B4-BE49-F238E27FC236}">
                <a16:creationId xmlns:a16="http://schemas.microsoft.com/office/drawing/2014/main" id="{46C01770-C3FC-46AE-AC08-2E45981A6F42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METADATA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Metadata Is What Makes Citation Possible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chunk you index must carry enough metadata to reconstruct a full citation later. Design this schema now — retrofitting it on Day 3 costs hours you won't have.</a:t>
            </a:r>
            <a:endParaRPr lang="en-US" sz="15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10881360" cy="246888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F307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document_name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54864" marB="54864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“USPSTF Breast Cancer Screening 2024”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F307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section_title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54864" marB="54864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“Recommendation Summary”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F307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page_number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54864" marB="54864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F307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chunk_id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54864" marB="54864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usptf-2024-sec3-chunk12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Image 0" descr="/home/claude/day1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AI CLINICAL DECISION SUPPORT LITE HACKATHON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pic>
        <p:nvPicPr>
          <p:cNvPr id="9" name="Google Shape;90;p1">
            <a:extLst>
              <a:ext uri="{FF2B5EF4-FFF2-40B4-BE49-F238E27FC236}">
                <a16:creationId xmlns:a16="http://schemas.microsoft.com/office/drawing/2014/main" id="{06175536-A9BE-4B30-B773-42CD6585FAC8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 BUILDING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Competition Checklist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7568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307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 source selected and legal usability confirmed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12724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307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92608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parsed with structure preserved (tables, headings intact)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17880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307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397764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strategy chosen and applied consistently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187452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207568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307F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86600" y="187452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 selected and justified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292608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312724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307F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86600" y="292608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 built with document/section/page metadata attached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397764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417880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307F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86600" y="397764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query returns a sensible, relevant chunk</a:t>
            </a:r>
            <a:endParaRPr lang="en-US" sz="1250" dirty="0"/>
          </a:p>
        </p:txBody>
      </p:sp>
      <p:pic>
        <p:nvPicPr>
          <p:cNvPr id="28" name="Image 0" descr="/home/claude/day1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AI CLINICAL DECISION SUPPORT LITE HACKATHON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pic>
        <p:nvPicPr>
          <p:cNvPr id="31" name="Google Shape;90;p1">
            <a:extLst>
              <a:ext uri="{FF2B5EF4-FFF2-40B4-BE49-F238E27FC236}">
                <a16:creationId xmlns:a16="http://schemas.microsoft.com/office/drawing/2014/main" id="{7B720B48-8092-4CCD-8BE3-0946B1D9D143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PAST COHORTS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Day 1 Pitfalls to Avoid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163B9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05740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creep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496312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Trying to ingest 4+ guideline documents instead of 1–2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87452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163B95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2103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086600" y="205740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Skipping the legal check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86600" y="2496312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a source before confirming it's actually usable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163B95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794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374904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Losing table structure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187952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dosage tables as flat paragraph text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56616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163B95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3794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086600" y="374904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metadata plan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86600" y="4187952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chunks without page/section tracking — impossible to cite later</a:t>
            </a:r>
            <a:endParaRPr lang="en-US" sz="1200" dirty="0"/>
          </a:p>
        </p:txBody>
      </p:sp>
      <p:pic>
        <p:nvPicPr>
          <p:cNvPr id="20" name="Image 0" descr="/home/claude/day1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AI CLINICAL DECISION SUPPORT LITE HACKATHON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pic>
        <p:nvPicPr>
          <p:cNvPr id="23" name="Google Shape;90;p1">
            <a:extLst>
              <a:ext uri="{FF2B5EF4-FFF2-40B4-BE49-F238E27FC236}">
                <a16:creationId xmlns:a16="http://schemas.microsoft.com/office/drawing/2014/main" id="{57C439D8-C099-4294-A4CB-667B86C52CD6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“Done” Looks Like at The 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0881360" cy="3566160"/>
          </a:xfrm>
          <a:prstGeom prst="roundRect">
            <a:avLst>
              <a:gd name="adj" fmla="val 2051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86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C7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24028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queryable vector index built from your chosen source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3017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C7F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297180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entry traceable to its exact document, section, and page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37490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C7F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70332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written note on why you chose your chunking strategy and embedding model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44805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C7F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443484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that tomorrow's retrieval work has clean, well-structured data to search</a:t>
            </a:r>
            <a:endParaRPr lang="en-US" sz="1500" dirty="0"/>
          </a:p>
        </p:txBody>
      </p:sp>
      <p:pic>
        <p:nvPicPr>
          <p:cNvPr id="17" name="Image 0" descr="/home/claude/day1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AI CLINICAL DECISION SUPPORT LITE HACKATHON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pic>
        <p:nvPicPr>
          <p:cNvPr id="20" name="Google Shape;90;p1">
            <a:extLst>
              <a:ext uri="{FF2B5EF4-FFF2-40B4-BE49-F238E27FC236}">
                <a16:creationId xmlns:a16="http://schemas.microsoft.com/office/drawing/2014/main" id="{007D07D4-36D3-4436-BB0F-A7B6C210C19C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30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ay1deck/logo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82296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37360" y="274320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4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</a:t>
            </a:r>
            <a:endParaRPr lang="en-US" sz="4840" dirty="0"/>
          </a:p>
        </p:txBody>
      </p:sp>
      <p:sp>
        <p:nvSpPr>
          <p:cNvPr id="4" name="Text 1"/>
          <p:cNvSpPr/>
          <p:nvPr/>
        </p:nvSpPr>
        <p:spPr>
          <a:xfrm>
            <a:off x="9994392" y="274320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84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</a:t>
            </a:r>
            <a:endParaRPr lang="en-US" sz="4840" dirty="0"/>
          </a:p>
        </p:txBody>
      </p:sp>
      <p:sp>
        <p:nvSpPr>
          <p:cNvPr id="5" name="Text 2"/>
          <p:cNvSpPr/>
          <p:nvPr/>
        </p:nvSpPr>
        <p:spPr>
          <a:xfrm>
            <a:off x="1737360" y="2834640"/>
            <a:ext cx="8714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Learning to Building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737360" y="370332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closes </a:t>
            </a:r>
            <a:r>
              <a:rPr lang="en-US" sz="150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01:00 </a:t>
            </a:r>
            <a:r>
              <a:rPr lang="en-US" sz="15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competition clock starts immediately after.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737360" y="420624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Find your Module trainer before you head to your team table.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737360" y="6126480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Clinical Decision Support Lite Hackathon  ·  Day 1  ·  Instant</a:t>
            </a:r>
            <a:endParaRPr lang="en-US" sz="1100" dirty="0"/>
          </a:p>
        </p:txBody>
      </p:sp>
      <p:pic>
        <p:nvPicPr>
          <p:cNvPr id="9" name="Google Shape;90;p1">
            <a:extLst>
              <a:ext uri="{FF2B5EF4-FFF2-40B4-BE49-F238E27FC236}">
                <a16:creationId xmlns:a16="http://schemas.microsoft.com/office/drawing/2014/main" id="{5DCC4D4A-01C0-4D17-87E6-78BCFBA69FA1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1715</Words>
  <Application>Microsoft Office PowerPoint</Application>
  <PresentationFormat>Widescreen</PresentationFormat>
  <Paragraphs>363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Abdallah Wagih</cp:lastModifiedBy>
  <cp:revision>8</cp:revision>
  <dcterms:created xsi:type="dcterms:W3CDTF">2026-08-09T06:15:40Z</dcterms:created>
  <dcterms:modified xsi:type="dcterms:W3CDTF">2026-08-09T07:02:26Z</dcterms:modified>
</cp:coreProperties>
</file>